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"/>
      <p:regular r:id="rId20"/>
      <p:bold r:id="rId21"/>
      <p:italic r:id="rId22"/>
      <p:boldItalic r:id="rId23"/>
    </p:embeddedFont>
    <p:embeddedFont>
      <p:font typeface="Urbanist"/>
      <p:regular r:id="rId24"/>
      <p:bold r:id="rId25"/>
      <p:italic r:id="rId26"/>
      <p:boldItalic r:id="rId27"/>
    </p:embeddedFont>
    <p:embeddedFont>
      <p:font typeface="Inter Medium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75B8F68-417B-4CEF-9E6A-F67B73C7B13E}">
  <a:tblStyle styleId="{475B8F68-417B-4CEF-9E6A-F67B73C7B13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Urbanist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italic.fntdata"/><Relationship Id="rId25" Type="http://schemas.openxmlformats.org/officeDocument/2006/relationships/font" Target="fonts/Urbanist-bold.fntdata"/><Relationship Id="rId28" Type="http://schemas.openxmlformats.org/officeDocument/2006/relationships/font" Target="fonts/InterMedium-regular.fntdata"/><Relationship Id="rId27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Medium-boldItalic.fntdata"/><Relationship Id="rId30" Type="http://schemas.openxmlformats.org/officeDocument/2006/relationships/font" Target="fonts/InterMedium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9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7" Type="http://schemas.openxmlformats.org/officeDocument/2006/relationships/image" Target="../media/image24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20.png"/><Relationship Id="rId8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4.png"/><Relationship Id="rId5" Type="http://schemas.openxmlformats.org/officeDocument/2006/relationships/image" Target="../media/image19.png"/><Relationship Id="rId6" Type="http://schemas.openxmlformats.org/officeDocument/2006/relationships/image" Target="../media/image31.png"/><Relationship Id="rId7" Type="http://schemas.openxmlformats.org/officeDocument/2006/relationships/image" Target="../media/image21.png"/><Relationship Id="rId8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32.png"/><Relationship Id="rId5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image" Target="../media/image30.png"/><Relationship Id="rId6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9.png"/><Relationship Id="rId5" Type="http://schemas.openxmlformats.org/officeDocument/2006/relationships/image" Target="../media/image27.png"/><Relationship Id="rId6" Type="http://schemas.openxmlformats.org/officeDocument/2006/relationships/image" Target="../media/image33.png"/><Relationship Id="rId7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423094"/>
            <a:ext cx="1160145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Implementasi Kriptografi AES-128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untuk Pengamanan File Soal Ujian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221235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rPr>
              <a:t>Studi Kasus: SMP YAPIPA, Tangerang Selatan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390876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 Medium"/>
                <a:ea typeface="Inter Medium"/>
                <a:cs typeface="Inter Medium"/>
                <a:sym typeface="Inter Medium"/>
              </a:rPr>
              <a:t>Isra Priambudi &amp; Mufti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5038576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Fakultas Teknologi Informasi, Universitas Budi Luhur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295275" y="2228850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01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95275" y="314325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Latar Belakang &amp; Masalah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2286000" y="4019550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Mengapa pengamanan file soal ujian sangat krusial bagi integritas institusi pendidikan?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09787"/>
            <a:ext cx="3492549" cy="3524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09787"/>
            <a:ext cx="3492549" cy="3524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09787"/>
            <a:ext cx="3492549" cy="35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914400" y="3109912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Penyimpanan Terbuka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14400" y="3576637"/>
            <a:ext cx="280674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File soal ujian disimpan dalam folder komputer sekolah tanpa enkripsi, sehingga mudah diakses pihak tidak berwenang.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4692699" y="3109912"/>
            <a:ext cx="294708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Kurangnya Sistem Keamanan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4692699" y="3852862"/>
            <a:ext cx="28067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Belum adanya aplikasi khusus yang mampu melindungi kerahasiaan file internal sekolah yang bersifat sensitif.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470999" y="3109912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Risiko Kebocoran Data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470999" y="3576637"/>
            <a:ext cx="280674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Sifat file ujian yang sangat rahasia memerlukan perlindungan ekstra agar tidak dapat dipahami jika terjadi pencurian data.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2490787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2699" y="24907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0999" y="2490787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IDENTIFIKASI MASALAH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457325"/>
            <a:ext cx="5238750" cy="5666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466850"/>
            <a:ext cx="5219700" cy="564698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952500" y="2766268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Merancang aplikasi berbasis web untuk pengamanan file dokumen sekolah.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952500" y="3566368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Mengimplementasikan algoritme AES-128 untuk proses enkripsi dan dekripsi.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952500" y="4366468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Mendukung berbagai format file penting: PDF, XLS, DOC, dan TXT.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52500" y="5166568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Menjamin integritas data agar kembali ke ukuran dan isi awal setelah didekripsi.</a:t>
            </a:r>
            <a:endParaRPr/>
          </a:p>
        </p:txBody>
      </p:sp>
      <p:pic>
        <p:nvPicPr>
          <p:cNvPr descr="image.png" id="127" name="Google Shape;12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0436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0446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0456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204668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TUJUAN PENELITIAN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/>
          <p:nvPr/>
        </p:nvSpPr>
        <p:spPr>
          <a:xfrm>
            <a:off x="571500" y="3586162"/>
            <a:ext cx="11049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521780" y="2919412"/>
            <a:ext cx="208822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Studi Literatur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571500" y="3890962"/>
            <a:ext cx="198879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Analisis jurnal &amp; teori AES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2786795" y="2919412"/>
            <a:ext cx="208822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Studi Lapangan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2836515" y="3890962"/>
            <a:ext cx="198879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Observasi masalah di SMP YAPIPA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5051810" y="2919412"/>
            <a:ext cx="208822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Analisis &amp; Desain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101530" y="3890962"/>
            <a:ext cx="198879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Perancangan modul enkripsi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7316825" y="2919412"/>
            <a:ext cx="208822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Implementasi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7366545" y="3890962"/>
            <a:ext cx="198879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Coding PHP &amp; Database MySQL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9581841" y="2919412"/>
            <a:ext cx="208822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Pengujian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9631560" y="3890962"/>
            <a:ext cx="198879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Uji coba 9 file soal ujian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METODOLOGI PENELITIAN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1470645" y="348324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3735660" y="3589883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6000675" y="348324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8265690" y="3589883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10530706" y="348324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7325"/>
            <a:ext cx="5238750" cy="74314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466850"/>
            <a:ext cx="5219700" cy="741238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6381750" y="3687216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Lingkungan Pengembangan</a:t>
            </a:r>
            <a:endParaRPr/>
          </a:p>
        </p:txBody>
      </p:sp>
      <p:graphicFrame>
        <p:nvGraphicFramePr>
          <p:cNvPr id="164" name="Google Shape;164;p18"/>
          <p:cNvGraphicFramePr/>
          <p:nvPr/>
        </p:nvGraphicFramePr>
        <p:xfrm>
          <a:off x="6381750" y="40967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{475B8F68-417B-4CEF-9E6A-F67B73C7B13E}</a:tableStyleId>
              </a:tblPr>
              <a:tblGrid>
                <a:gridCol w="2699000"/>
                <a:gridCol w="2539750"/>
              </a:tblGrid>
              <a:tr h="51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Bahasa Pemrograman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Basis Data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MySQL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Algoritme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AES-128 Bit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Prosesor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Intel Pentium G4400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Memori RAM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4GB DDR3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5" name="Google Shape;165;p18"/>
          <p:cNvSpPr/>
          <p:nvPr/>
        </p:nvSpPr>
        <p:spPr>
          <a:xfrm>
            <a:off x="6381750" y="4594919"/>
            <a:ext cx="26989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9080748" y="4594919"/>
            <a:ext cx="253975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6381750" y="5107334"/>
            <a:ext cx="26989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9080748" y="5107334"/>
            <a:ext cx="253975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6381750" y="5619750"/>
            <a:ext cx="26989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9080748" y="5619750"/>
            <a:ext cx="253975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6381750" y="6132165"/>
            <a:ext cx="26989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9080748" y="6132165"/>
            <a:ext cx="253975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6381750" y="6644580"/>
            <a:ext cx="26989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9080748" y="6644580"/>
            <a:ext cx="253975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SPESIFIKASI SISTEM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571500" y="1328737"/>
            <a:ext cx="52006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ALGORITME AES-128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381000" y="1328737"/>
            <a:ext cx="571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571500" y="240506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AES (Advanced Encryption Standard) adalah standar enkripsi simetris yang menggunakan kunci 128-bit.</a:t>
            </a:r>
            <a:endParaRPr/>
          </a:p>
        </p:txBody>
      </p:sp>
      <p:pic>
        <p:nvPicPr>
          <p:cNvPr descr="image.png" id="185" name="Google Shape;18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952500" y="3395662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SubBytes: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Substitusi byte non-linear.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952500" y="3890962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ShiftRows: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Pergeseran baris data.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952500" y="4386262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MixColumns: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Pengacakan kolom data.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952500" y="4881562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AddRoundKey: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XOR dengan kunci ronde.</a:t>
            </a:r>
            <a:endParaRPr/>
          </a:p>
        </p:txBody>
      </p:sp>
      <p:pic>
        <p:nvPicPr>
          <p:cNvPr descr="image.png" id="190" name="Google Shape;19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337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290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243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919662"/>
            <a:ext cx="2095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14587"/>
            <a:ext cx="3492549" cy="2914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14587"/>
            <a:ext cx="3492549" cy="2914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14587"/>
            <a:ext cx="3492549" cy="2914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914400" y="3414712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Halaman Login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914400" y="3881437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Otentikasi user melalui username dan password terdaftar untuk akses sistem.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4692699" y="3414712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Dashboard Statistik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4692699" y="3881437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Menampilkan jumlah user, total file terenkripsi, dan file terdekripsi.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8470999" y="3414712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Form Enkripsi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8470999" y="3881437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Input file dan password enkripsi untuk mengubah plaintext menjadi ciphertext.</a:t>
            </a:r>
            <a:endParaRPr/>
          </a:p>
        </p:txBody>
      </p:sp>
      <p:pic>
        <p:nvPicPr>
          <p:cNvPr descr="image.png" id="208" name="Google Shape;20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27955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2699" y="27955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ANTARMUKA APLIKASI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/>
          <p:nvPr/>
        </p:nvSpPr>
        <p:spPr>
          <a:xfrm>
            <a:off x="571500" y="2087909"/>
            <a:ext cx="11049000" cy="3171676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8" name="Google Shape;218;p21"/>
          <p:cNvGraphicFramePr/>
          <p:nvPr/>
        </p:nvGraphicFramePr>
        <p:xfrm>
          <a:off x="571500" y="20879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{475B8F68-417B-4CEF-9E6A-F67B73C7B13E}</a:tableStyleId>
              </a:tblPr>
              <a:tblGrid>
                <a:gridCol w="4185800"/>
                <a:gridCol w="2233475"/>
                <a:gridCol w="2336900"/>
                <a:gridCol w="2292850"/>
              </a:tblGrid>
              <a:tr h="5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Nama File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Ukuran Awal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Waktu (Detik)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Ukuran Akhir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Soal UTS Bhs Indonesia.docx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63.7 KB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1.0226 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63.7 KB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Soal UTS IPA Kelas 9.docx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83.4 KB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1.3952 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83.4 KB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Soal UTS IPS Kelas 9.docx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87.8 KB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1.4594 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87.8 KB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Soal UTS Matematika.docx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189.0 KB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3.1532 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189.0 KB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Soal UTS PKn Kelas 9.docx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56.4 KB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0.9371 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56.4 KB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9" name="Google Shape;219;p21"/>
          <p:cNvSpPr txBox="1"/>
          <p:nvPr/>
        </p:nvSpPr>
        <p:spPr>
          <a:xfrm>
            <a:off x="571500" y="5450085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*Ukuran file tetap konsisten setelah proses enkripsi.</a:t>
            </a: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571500" y="2668934"/>
            <a:ext cx="4185791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4757291" y="2668934"/>
            <a:ext cx="2233463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6990754" y="2668934"/>
            <a:ext cx="2336899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9327653" y="2668934"/>
            <a:ext cx="2292846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571500" y="3195637"/>
            <a:ext cx="418579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4757291" y="3195637"/>
            <a:ext cx="223346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6990754" y="3195637"/>
            <a:ext cx="233689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9327653" y="3195637"/>
            <a:ext cx="229284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571500" y="3708052"/>
            <a:ext cx="418579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4757291" y="3708052"/>
            <a:ext cx="223346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6990754" y="3708052"/>
            <a:ext cx="233689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9327653" y="3708052"/>
            <a:ext cx="229284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571500" y="4220467"/>
            <a:ext cx="418579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4757291" y="4220467"/>
            <a:ext cx="223346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6990754" y="4220467"/>
            <a:ext cx="233689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9327653" y="4220467"/>
            <a:ext cx="229284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571500" y="4732883"/>
            <a:ext cx="418579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4757291" y="4732883"/>
            <a:ext cx="223346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6990754" y="4732883"/>
            <a:ext cx="233689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9327653" y="4732883"/>
            <a:ext cx="229284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571500" y="5245298"/>
            <a:ext cx="418579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4757291" y="5245298"/>
            <a:ext cx="223346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6990754" y="5245298"/>
            <a:ext cx="233689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9327653" y="5245298"/>
            <a:ext cx="229284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HASIL UJI ENKRIPSI</a:t>
            </a:r>
            <a:endParaRPr/>
          </a:p>
        </p:txBody>
      </p:sp>
      <p:sp>
        <p:nvSpPr>
          <p:cNvPr id="245" name="Google Shape;245;p21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00487"/>
            <a:ext cx="110490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457325"/>
            <a:ext cx="1104900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2"/>
          <p:cNvSpPr txBox="1"/>
          <p:nvPr/>
        </p:nvSpPr>
        <p:spPr>
          <a:xfrm>
            <a:off x="762000" y="4281487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Temuan Utama: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Proses enkripsi dan dekripsi untuk file di bawah 3MB berjalan sangat responsif (di bawah 4 detik). Ukuran file berbanding lurus dengan waktu pemrosesan.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ANALISIS KECEPATAN</a:t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375296"/>
            <a:ext cx="5238750" cy="29932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384821"/>
            <a:ext cx="5219700" cy="2974181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3"/>
          <p:cNvSpPr txBox="1"/>
          <p:nvPr/>
        </p:nvSpPr>
        <p:spPr>
          <a:xfrm>
            <a:off x="952500" y="2747962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Keberhasilan: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Algoritme AES-128 berhasil mengamankan file soal ujian SMP YAPIPA.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952500" y="3548062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Kerahasiaan: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Hanya pemegang kunci yang benar yang dapat mengembalikan file ke bentuk asli.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952500" y="4348162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Integritas: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Tidak ada perubahan data atau ukuran file setelah proses dekripsi.</a:t>
            </a:r>
            <a:endParaRPr/>
          </a:p>
        </p:txBody>
      </p:sp>
      <p:pic>
        <p:nvPicPr>
          <p:cNvPr descr="image.png" id="266" name="Google Shape;26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860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861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86262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KESIMPULAN</a:t>
            </a:r>
            <a:endParaRPr/>
          </a:p>
        </p:txBody>
      </p:sp>
      <p:sp>
        <p:nvSpPr>
          <p:cNvPr id="270" name="Google Shape;270;p23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4"/>
          <p:cNvSpPr txBox="1"/>
          <p:nvPr/>
        </p:nvSpPr>
        <p:spPr>
          <a:xfrm>
            <a:off x="295275" y="1405979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Terima Kasih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571500" y="2815679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Ada Pertanyaan?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571500" y="456054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Implementasi Kriptografi AES-128 untuk SMP YAPIPA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571500" y="5055840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israpriambudi16@gmail.com | mufti@budiluhur.ac.id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4" name="Google Shape;28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5"/>
          <p:cNvSpPr/>
          <p:nvPr/>
        </p:nvSpPr>
        <p:spPr>
          <a:xfrm>
            <a:off x="571500" y="2109043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571500" y="309190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571500" y="3876675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571500" y="308237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571500" y="308237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571500" y="38671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571500" y="38671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571500" y="485001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571500" y="485001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4" name="Google Shape;29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5758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5"/>
          <p:cNvSpPr txBox="1"/>
          <p:nvPr/>
        </p:nvSpPr>
        <p:spPr>
          <a:xfrm>
            <a:off x="1666875" y="2251918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https://static.vecteezy.com/system/resources/previews/062/255/545/non_2x/padlock-and-shield-icon-with-checkmark-cybersecurity-privacy-protection-data-encryption-secure-access-login-authentication-illustration-vector.jpg</a:t>
            </a:r>
            <a:endParaRPr/>
          </a:p>
        </p:txBody>
      </p:sp>
      <p:sp>
        <p:nvSpPr>
          <p:cNvPr id="296" name="Google Shape;296;p25"/>
          <p:cNvSpPr txBox="1"/>
          <p:nvPr/>
        </p:nvSpPr>
        <p:spPr>
          <a:xfrm>
            <a:off x="1666875" y="269572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descr="image.png" id="297" name="Google Shape;29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4132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5"/>
          <p:cNvSpPr txBox="1"/>
          <p:nvPr/>
        </p:nvSpPr>
        <p:spPr>
          <a:xfrm>
            <a:off x="1666875" y="323477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https://resumeworded.com/assets/images/resume-guides/php-developer2.png</a:t>
            </a:r>
            <a:endParaRPr/>
          </a:p>
        </p:txBody>
      </p:sp>
      <p:sp>
        <p:nvSpPr>
          <p:cNvPr id="299" name="Google Shape;299;p25"/>
          <p:cNvSpPr txBox="1"/>
          <p:nvPr/>
        </p:nvSpPr>
        <p:spPr>
          <a:xfrm>
            <a:off x="1666875" y="348049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resumeworded.com</a:t>
            </a:r>
            <a:endParaRPr/>
          </a:p>
        </p:txBody>
      </p:sp>
      <p:pic>
        <p:nvPicPr>
          <p:cNvPr descr="image.png" id="300" name="Google Shape;30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2521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5"/>
          <p:cNvSpPr txBox="1"/>
          <p:nvPr/>
        </p:nvSpPr>
        <p:spPr>
          <a:xfrm>
            <a:off x="1666875" y="4019550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https://static.vecteezy.com/system/resources/previews/015/649/139/non_2x/abstract-fingerprint-scanning-encryption-to-login-cyber-security-icons-on-blue-background-modern-futuristic-vector.jpg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1666875" y="446335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descr="image.png" id="303" name="Google Shape;30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00895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5"/>
          <p:cNvSpPr txBox="1"/>
          <p:nvPr/>
        </p:nvSpPr>
        <p:spPr>
          <a:xfrm>
            <a:off x="1666875" y="500241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https://s3.amazonaws.com/ppt-ct3.crystalgraphics.com/connection-abstract-sense-of-science_bafzfgdyde_8_ws.jpg</a:t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1666875" y="524812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crystalgraphics.com</a:t>
            </a:r>
            <a:endParaRPr/>
          </a:p>
        </p:txBody>
      </p:sp>
      <p:sp>
        <p:nvSpPr>
          <p:cNvPr id="306" name="Google Shape;306;p25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307" name="Google Shape;307;p25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